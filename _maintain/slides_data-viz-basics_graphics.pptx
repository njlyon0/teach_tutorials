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318" r:id="rId2"/>
    <p:sldId id="319" r:id="rId3"/>
    <p:sldId id="320" r:id="rId4"/>
    <p:sldId id="321" r:id="rId5"/>
    <p:sldId id="322" r:id="rId6"/>
    <p:sldId id="323" r:id="rId7"/>
    <p:sldId id="324" r:id="rId8"/>
    <p:sldId id="32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222"/>
    <a:srgbClr val="725EEC"/>
    <a:srgbClr val="FF6018"/>
    <a:srgbClr val="DF227C"/>
    <a:srgbClr val="FFB02F"/>
    <a:srgbClr val="588F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31"/>
    <p:restoredTop sz="96197"/>
  </p:normalViewPr>
  <p:slideViewPr>
    <p:cSldViewPr snapToGrid="0">
      <p:cViewPr varScale="1">
        <p:scale>
          <a:sx n="123" d="100"/>
          <a:sy n="123" d="100"/>
        </p:scale>
        <p:origin x="4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63195A-DD8B-534B-813F-71E1B5C109A5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72742-2250-9141-9730-F984D429B1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84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F5907-0BBE-D591-F1E3-E1EAA5B25E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DD4C3-FAEE-CF45-FE01-E3A7B235E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CBD4B-D731-852F-2D11-9D917D324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8AF990-BF6E-0141-99B2-285802DEF540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9618A-8B5F-D13B-FFF8-E0CC8E325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30E94-8CD3-7BFA-AFAC-3025CEB31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737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775B9-CAE2-3FB9-9BAF-59444A01B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2CF9A-D512-BAE2-68F4-B347746E9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076DC-1C28-A28B-A186-3E0F2F16E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10236-F78A-FC43-809F-EA22E5FC7EE3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62A20-CC03-250E-E8E8-05C196C4D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19CAC-7EFD-6E7F-1B28-0F5483DE5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02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80CA-343D-4975-83E3-FF0EFDA84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FE17AC-FD50-44CB-7290-2945B91D9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93DE37-7C82-2994-B3B8-1BF339A16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E684FB-68DE-6E4C-857A-1971EB877E77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265DA-1D38-3129-7534-7EE758F01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47708-816C-F64F-A383-FDFFDCEAB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34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3BE25-011B-6588-8972-44E86264D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7EF3F-4EA5-6A14-5190-5319FBFAEE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81DAF-3A44-6F2E-0B9C-B363FD147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DEDDB-1FB5-0B03-A0FE-D3D7C91DC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58770-92DE-F742-BA4D-84E1EEC6BBB8}" type="datetime1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C6386F-72FC-AE73-A421-C04B4EE39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8069F-685B-5C86-4632-13950D826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115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DE993-1DE8-9686-49B0-17F4147A2B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FA4D73-1A60-76BE-2CF1-A5C452EDD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C639A1-77CA-457D-E2B0-A316055176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A68189-1A1D-3129-09E3-F135966782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0217C6-7FE1-EE63-961A-3E4EA1AC17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C613BE-FCEF-8333-7E14-09B89155A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0AA9F-6556-E34C-ABA2-00BC78D44976}" type="datetime1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A97AFF-158E-D2DA-29B6-665551164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6AD53C-493C-C155-788F-37741D3A9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954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C904-CFB0-877C-5BC3-388E5804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3D7D2-F64C-E054-C657-82121C981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6B2C9-DDF3-F448-B652-69CE89283EF3}" type="datetime1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F738E9-26C7-0E1F-F6E3-764EED9ED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0F47AA-05E8-CB9F-7C86-045B544C2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829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C3B892-0CBD-EFFC-8105-966A6BB1D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34A58-BFC9-924E-9948-14F133153DC4}" type="datetime1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D9C2D8-357E-D50C-203D-BB81F14C3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5311C-0C33-58CB-25D4-EAEBB2F16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592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09EF9-2F3C-5179-DA29-90D37B31C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1D43D-91D9-9C94-E722-1BEE93D9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07F79A-5287-CE21-9C86-5CCAAED5CC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17B1D-638E-450F-3A1C-1878710BE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E3C0A-8F5D-F042-BD70-35ED8F2AE768}" type="datetime1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523C8-40F1-7210-B117-5124D9145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425768-0E18-806B-AC15-8AE1D9845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45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E024-4FB0-5BB7-716B-50A136D07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15931A-EDC7-48A2-BA05-209AE6CCB4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DF546C-1990-4EFF-7F79-167D7CC5E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96A53-A2F3-FE84-0469-D2CB1006E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02906-A089-8C4D-8F86-F2F0DC3AC1F9}" type="datetime1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ECD770-FCCC-C026-C777-AA5DA46C7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C6DF4-CC36-D049-2A8B-7231BD74E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27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23444-B7D7-C217-9837-B19645F24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CBE4F-4ACE-EB51-D348-982F75B87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D2690-B861-9739-D6FA-516C863C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D33C-089A-8549-9875-1CC9A80BA7E9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1093D-5704-338E-4B25-7E0FCCC84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E7BC62-1710-2DBC-8B69-0AAA9D33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235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B9F79E-4E1A-7117-E891-E349D050A4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2612-E508-87B8-4EAE-35F2D55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A5B43-A6AB-8520-B9E3-A0D786E03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C7F5C-7BC1-E64D-ADDE-3C859A1DA47A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BB6B6-B974-33C9-2210-923739529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709CC-C192-3B47-A226-2F385956E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026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F1E49-C391-D43A-70A8-FD926D6DD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30098-2EC6-AAB8-1CD7-23D3B9418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31487-329E-CA1D-EE90-596F4653E7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F94E35-78FB-A741-A7BA-14FBACB0EB98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819AF-154B-DF9A-1031-A6B53463D1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2FE08-5590-EF97-37D3-E9A3C85A5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E22B56-AB38-AD4C-9A4A-E8BE863F0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470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C1D3043F-A0D8-00B8-9132-749806A3E571}"/>
              </a:ext>
            </a:extLst>
          </p:cNvPr>
          <p:cNvSpPr/>
          <p:nvPr/>
        </p:nvSpPr>
        <p:spPr>
          <a:xfrm>
            <a:off x="4601231" y="4097792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1824822-9AD6-5AFA-C56E-7154F533179E}"/>
              </a:ext>
            </a:extLst>
          </p:cNvPr>
          <p:cNvSpPr/>
          <p:nvPr/>
        </p:nvSpPr>
        <p:spPr>
          <a:xfrm>
            <a:off x="4599663" y="3479789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7B118AC-FF5D-6042-5CA9-2285F7A70135}"/>
              </a:ext>
            </a:extLst>
          </p:cNvPr>
          <p:cNvSpPr/>
          <p:nvPr/>
        </p:nvSpPr>
        <p:spPr>
          <a:xfrm>
            <a:off x="4590138" y="1717622"/>
            <a:ext cx="914400" cy="534955"/>
          </a:xfrm>
          <a:prstGeom prst="rect">
            <a:avLst/>
          </a:prstGeom>
          <a:solidFill>
            <a:srgbClr val="FFB02F"/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170611-9F87-CB20-ABD4-44BCA3BE29C8}"/>
              </a:ext>
            </a:extLst>
          </p:cNvPr>
          <p:cNvSpPr/>
          <p:nvPr/>
        </p:nvSpPr>
        <p:spPr>
          <a:xfrm>
            <a:off x="4599663" y="2252577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0FB780-BF98-8A2F-B890-30A2318AFF77}"/>
              </a:ext>
            </a:extLst>
          </p:cNvPr>
          <p:cNvSpPr/>
          <p:nvPr/>
        </p:nvSpPr>
        <p:spPr>
          <a:xfrm>
            <a:off x="4599663" y="2870289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7D038F2-CE7E-3D00-954F-589710BED733}"/>
              </a:ext>
            </a:extLst>
          </p:cNvPr>
          <p:cNvSpPr/>
          <p:nvPr/>
        </p:nvSpPr>
        <p:spPr>
          <a:xfrm>
            <a:off x="5517310" y="4097792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D7DEE1C-0A59-6D81-78D1-31794ACF1EA1}"/>
              </a:ext>
            </a:extLst>
          </p:cNvPr>
          <p:cNvSpPr/>
          <p:nvPr/>
        </p:nvSpPr>
        <p:spPr>
          <a:xfrm>
            <a:off x="5517310" y="3479789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BFA1F5F5-878E-FBCE-27F0-DC8DD9277AAC}"/>
              </a:ext>
            </a:extLst>
          </p:cNvPr>
          <p:cNvSpPr/>
          <p:nvPr/>
        </p:nvSpPr>
        <p:spPr>
          <a:xfrm>
            <a:off x="5517310" y="1717622"/>
            <a:ext cx="914400" cy="534955"/>
          </a:xfrm>
          <a:prstGeom prst="rect">
            <a:avLst/>
          </a:prstGeom>
          <a:solidFill>
            <a:srgbClr val="FFB02F"/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18AF468-E839-DD04-D398-5AB4969EF570}"/>
              </a:ext>
            </a:extLst>
          </p:cNvPr>
          <p:cNvSpPr/>
          <p:nvPr/>
        </p:nvSpPr>
        <p:spPr>
          <a:xfrm>
            <a:off x="5517310" y="2252577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BCCB4CF-1CAF-D3FA-54B5-CEF5420B6807}"/>
              </a:ext>
            </a:extLst>
          </p:cNvPr>
          <p:cNvSpPr/>
          <p:nvPr/>
        </p:nvSpPr>
        <p:spPr>
          <a:xfrm>
            <a:off x="5517310" y="2870289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BC67D49-77FF-4F71-3F62-4A0938E42DC2}"/>
              </a:ext>
            </a:extLst>
          </p:cNvPr>
          <p:cNvSpPr/>
          <p:nvPr/>
        </p:nvSpPr>
        <p:spPr>
          <a:xfrm>
            <a:off x="6431781" y="4097792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D6156F1-C6D2-068F-4F4C-D237A4BCDD30}"/>
              </a:ext>
            </a:extLst>
          </p:cNvPr>
          <p:cNvSpPr/>
          <p:nvPr/>
        </p:nvSpPr>
        <p:spPr>
          <a:xfrm>
            <a:off x="6431781" y="3479789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519941B-DA90-D78B-7745-5C5251830540}"/>
              </a:ext>
            </a:extLst>
          </p:cNvPr>
          <p:cNvSpPr/>
          <p:nvPr/>
        </p:nvSpPr>
        <p:spPr>
          <a:xfrm>
            <a:off x="6441306" y="1717622"/>
            <a:ext cx="914400" cy="534955"/>
          </a:xfrm>
          <a:prstGeom prst="rect">
            <a:avLst/>
          </a:prstGeom>
          <a:solidFill>
            <a:srgbClr val="FFB02F"/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FB7F8CF9-BAD3-A1EF-F6DB-82B5794839EA}"/>
              </a:ext>
            </a:extLst>
          </p:cNvPr>
          <p:cNvSpPr/>
          <p:nvPr/>
        </p:nvSpPr>
        <p:spPr>
          <a:xfrm>
            <a:off x="6431781" y="2252577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3FF055-8535-EED4-3301-0112090C8C1D}"/>
              </a:ext>
            </a:extLst>
          </p:cNvPr>
          <p:cNvSpPr/>
          <p:nvPr/>
        </p:nvSpPr>
        <p:spPr>
          <a:xfrm>
            <a:off x="6431781" y="2870289"/>
            <a:ext cx="914400" cy="617712"/>
          </a:xfrm>
          <a:prstGeom prst="rect">
            <a:avLst/>
          </a:prstGeom>
          <a:solidFill>
            <a:srgbClr val="FFB02F">
              <a:alpha val="50000"/>
            </a:srgbClr>
          </a:solidFill>
          <a:ln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16D4185-1236-E3C7-68DC-59440E124778}"/>
              </a:ext>
            </a:extLst>
          </p:cNvPr>
          <p:cNvGrpSpPr/>
          <p:nvPr/>
        </p:nvGrpSpPr>
        <p:grpSpPr>
          <a:xfrm>
            <a:off x="6600945" y="1879958"/>
            <a:ext cx="576072" cy="2743200"/>
            <a:chOff x="6048233" y="1426877"/>
            <a:chExt cx="576072" cy="2743200"/>
          </a:xfrm>
        </p:grpSpPr>
        <p:sp>
          <p:nvSpPr>
            <p:cNvPr id="85" name="Up-Down Arrow 84">
              <a:extLst>
                <a:ext uri="{FF2B5EF4-FFF2-40B4-BE49-F238E27FC236}">
                  <a16:creationId xmlns:a16="http://schemas.microsoft.com/office/drawing/2014/main" id="{513FA736-24DF-F4EB-ACD8-12A839A31E02}"/>
                </a:ext>
              </a:extLst>
            </p:cNvPr>
            <p:cNvSpPr/>
            <p:nvPr/>
          </p:nvSpPr>
          <p:spPr>
            <a:xfrm>
              <a:off x="6048233" y="1426877"/>
              <a:ext cx="576072" cy="2743200"/>
            </a:xfrm>
            <a:prstGeom prst="upDownArrow">
              <a:avLst/>
            </a:prstGeom>
            <a:solidFill>
              <a:srgbClr val="588FF9"/>
            </a:solidFill>
            <a:ln>
              <a:solidFill>
                <a:srgbClr val="22222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5F69BF6-1D02-73C4-5094-93F816CF1CA2}"/>
                </a:ext>
              </a:extLst>
            </p:cNvPr>
            <p:cNvSpPr txBox="1"/>
            <p:nvPr/>
          </p:nvSpPr>
          <p:spPr>
            <a:xfrm rot="16200000">
              <a:off x="5806188" y="2694867"/>
              <a:ext cx="106016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Variable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43C46D6A-CEE4-41C0-A0B8-1329BD30DC04}"/>
              </a:ext>
            </a:extLst>
          </p:cNvPr>
          <p:cNvGrpSpPr/>
          <p:nvPr/>
        </p:nvGrpSpPr>
        <p:grpSpPr>
          <a:xfrm>
            <a:off x="4719946" y="2273397"/>
            <a:ext cx="2514600" cy="576072"/>
            <a:chOff x="4192724" y="1828374"/>
            <a:chExt cx="2514600" cy="576072"/>
          </a:xfrm>
        </p:grpSpPr>
        <p:sp>
          <p:nvSpPr>
            <p:cNvPr id="89" name="Up-Down Arrow 88">
              <a:extLst>
                <a:ext uri="{FF2B5EF4-FFF2-40B4-BE49-F238E27FC236}">
                  <a16:creationId xmlns:a16="http://schemas.microsoft.com/office/drawing/2014/main" id="{0C89B18F-5E03-6DB7-B16C-18D3C1A10338}"/>
                </a:ext>
              </a:extLst>
            </p:cNvPr>
            <p:cNvSpPr/>
            <p:nvPr/>
          </p:nvSpPr>
          <p:spPr>
            <a:xfrm rot="5400000">
              <a:off x="5161988" y="859110"/>
              <a:ext cx="576072" cy="2514600"/>
            </a:xfrm>
            <a:prstGeom prst="upDownArrow">
              <a:avLst/>
            </a:prstGeom>
            <a:solidFill>
              <a:srgbClr val="FF6018"/>
            </a:solidFill>
            <a:ln>
              <a:solidFill>
                <a:srgbClr val="22222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FB5BBE8-052C-8DB4-B31D-81211C836A52}"/>
                </a:ext>
              </a:extLst>
            </p:cNvPr>
            <p:cNvSpPr txBox="1"/>
            <p:nvPr/>
          </p:nvSpPr>
          <p:spPr>
            <a:xfrm>
              <a:off x="4705461" y="1915779"/>
              <a:ext cx="148912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 dirty="0"/>
                <a:t>Observation</a:t>
              </a:r>
            </a:p>
          </p:txBody>
        </p:sp>
      </p:grpSp>
      <p:sp>
        <p:nvSpPr>
          <p:cNvPr id="95" name="Oval 94">
            <a:extLst>
              <a:ext uri="{FF2B5EF4-FFF2-40B4-BE49-F238E27FC236}">
                <a16:creationId xmlns:a16="http://schemas.microsoft.com/office/drawing/2014/main" id="{3BDA8C5A-CDA3-8813-093C-40AEB6154F65}"/>
              </a:ext>
            </a:extLst>
          </p:cNvPr>
          <p:cNvSpPr/>
          <p:nvPr/>
        </p:nvSpPr>
        <p:spPr>
          <a:xfrm>
            <a:off x="5644886" y="2921773"/>
            <a:ext cx="659248" cy="514744"/>
          </a:xfrm>
          <a:prstGeom prst="ellipse">
            <a:avLst/>
          </a:prstGeom>
          <a:solidFill>
            <a:srgbClr val="DF227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BB4AA6F-1EAA-8FE7-8967-919DAC9C447C}"/>
              </a:ext>
            </a:extLst>
          </p:cNvPr>
          <p:cNvSpPr txBox="1"/>
          <p:nvPr/>
        </p:nvSpPr>
        <p:spPr>
          <a:xfrm>
            <a:off x="5714215" y="2948313"/>
            <a:ext cx="520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Data</a:t>
            </a:r>
          </a:p>
          <a:p>
            <a:pPr algn="ctr"/>
            <a:r>
              <a:rPr lang="en-US" sz="1200" b="1" dirty="0"/>
              <a:t>Point</a:t>
            </a: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3A05A659-357C-5E99-73E0-E6EDAEEADD36}"/>
              </a:ext>
            </a:extLst>
          </p:cNvPr>
          <p:cNvSpPr/>
          <p:nvPr/>
        </p:nvSpPr>
        <p:spPr>
          <a:xfrm>
            <a:off x="4727239" y="3531273"/>
            <a:ext cx="659248" cy="514744"/>
          </a:xfrm>
          <a:prstGeom prst="ellipse">
            <a:avLst/>
          </a:prstGeom>
          <a:solidFill>
            <a:srgbClr val="DF227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BAF9C38-E459-FB9F-9E1B-0F16E7419106}"/>
              </a:ext>
            </a:extLst>
          </p:cNvPr>
          <p:cNvSpPr txBox="1"/>
          <p:nvPr/>
        </p:nvSpPr>
        <p:spPr>
          <a:xfrm>
            <a:off x="4796568" y="3557813"/>
            <a:ext cx="520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Data</a:t>
            </a:r>
          </a:p>
          <a:p>
            <a:pPr algn="ctr"/>
            <a:r>
              <a:rPr lang="en-US" sz="1200" b="1" dirty="0"/>
              <a:t>Point</a:t>
            </a:r>
          </a:p>
        </p:txBody>
      </p:sp>
      <p:sp>
        <p:nvSpPr>
          <p:cNvPr id="109" name="Title 1">
            <a:extLst>
              <a:ext uri="{FF2B5EF4-FFF2-40B4-BE49-F238E27FC236}">
                <a16:creationId xmlns:a16="http://schemas.microsoft.com/office/drawing/2014/main" id="{E9E5D7AF-CB51-4DD5-CF01-28F5E71979D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538867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tidy-</a:t>
            </a:r>
            <a:r>
              <a:rPr lang="en-US" sz="1800" dirty="0" err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data.png</a:t>
            </a:r>
            <a:endParaRPr lang="en-US" sz="1800" dirty="0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258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763B48B-F109-0BFA-D8C4-58E0FE3FB8B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graph-anatomy-02.png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36B195-217C-4368-0778-9686386D5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527" y="543378"/>
            <a:ext cx="7772400" cy="555171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A48C45D-BD6C-777B-F6AD-BA9A8536F178}"/>
              </a:ext>
            </a:extLst>
          </p:cNvPr>
          <p:cNvSpPr/>
          <p:nvPr/>
        </p:nvSpPr>
        <p:spPr>
          <a:xfrm>
            <a:off x="2402520" y="543378"/>
            <a:ext cx="657921" cy="4887037"/>
          </a:xfrm>
          <a:prstGeom prst="rect">
            <a:avLst/>
          </a:prstGeom>
          <a:noFill/>
          <a:ln w="38100">
            <a:solidFill>
              <a:srgbClr val="DF2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88B404-BDFC-43F0-3F32-D478C80C6538}"/>
              </a:ext>
            </a:extLst>
          </p:cNvPr>
          <p:cNvSpPr/>
          <p:nvPr/>
        </p:nvSpPr>
        <p:spPr>
          <a:xfrm>
            <a:off x="3060441" y="5477070"/>
            <a:ext cx="7007290" cy="597160"/>
          </a:xfrm>
          <a:prstGeom prst="rect">
            <a:avLst/>
          </a:prstGeom>
          <a:noFill/>
          <a:ln w="38100">
            <a:solidFill>
              <a:srgbClr val="FFB0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0F4A1B-5ED7-7612-1BCD-61A485CE2BAE}"/>
              </a:ext>
            </a:extLst>
          </p:cNvPr>
          <p:cNvSpPr/>
          <p:nvPr/>
        </p:nvSpPr>
        <p:spPr>
          <a:xfrm>
            <a:off x="3114760" y="543378"/>
            <a:ext cx="6980964" cy="4887037"/>
          </a:xfrm>
          <a:prstGeom prst="rect">
            <a:avLst/>
          </a:prstGeom>
          <a:noFill/>
          <a:ln w="38100">
            <a:solidFill>
              <a:srgbClr val="725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6E3BDD-8ABA-99C1-3585-4A7244694D96}"/>
              </a:ext>
            </a:extLst>
          </p:cNvPr>
          <p:cNvSpPr txBox="1"/>
          <p:nvPr/>
        </p:nvSpPr>
        <p:spPr>
          <a:xfrm>
            <a:off x="5863215" y="174046"/>
            <a:ext cx="1068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25EEC"/>
                </a:solidFill>
              </a:rPr>
              <a:t>Plot Area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36B3A-757B-74D4-44A7-AAFD1A6A89C8}"/>
              </a:ext>
            </a:extLst>
          </p:cNvPr>
          <p:cNvSpPr txBox="1"/>
          <p:nvPr/>
        </p:nvSpPr>
        <p:spPr>
          <a:xfrm>
            <a:off x="470709" y="2751270"/>
            <a:ext cx="19318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DF227C"/>
                </a:solidFill>
              </a:rPr>
              <a:t>Y Axis</a:t>
            </a:r>
          </a:p>
          <a:p>
            <a:pPr algn="ctr"/>
            <a:r>
              <a:rPr lang="en-US" b="1" dirty="0">
                <a:solidFill>
                  <a:srgbClr val="DF227C"/>
                </a:solidFill>
              </a:rPr>
              <a:t>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F79989-3054-070F-8932-080CB4C7852C}"/>
              </a:ext>
            </a:extLst>
          </p:cNvPr>
          <p:cNvSpPr txBox="1"/>
          <p:nvPr/>
        </p:nvSpPr>
        <p:spPr>
          <a:xfrm>
            <a:off x="5483536" y="6146357"/>
            <a:ext cx="2161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B02F"/>
                </a:solidFill>
              </a:rPr>
              <a:t>X Axis</a:t>
            </a:r>
          </a:p>
          <a:p>
            <a:pPr algn="ctr"/>
            <a:r>
              <a:rPr lang="en-US" b="1" dirty="0">
                <a:solidFill>
                  <a:srgbClr val="FFB02F"/>
                </a:solidFill>
              </a:rPr>
              <a:t>Explanatory Variable</a:t>
            </a:r>
          </a:p>
        </p:txBody>
      </p:sp>
    </p:spTree>
    <p:extLst>
      <p:ext uri="{BB962C8B-B14F-4D97-AF65-F5344CB8AC3E}">
        <p14:creationId xmlns:p14="http://schemas.microsoft.com/office/powerpoint/2010/main" val="35267631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A8AF5-6C79-9D65-3191-1332DA94A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1908999-840C-AF06-CCD5-C1C186E9B1B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graph-anatomy-03.png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12D19-7970-953D-647B-0C55260FA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527" y="543378"/>
            <a:ext cx="7772400" cy="555171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81837F-E2BE-4206-C695-C6184362E685}"/>
              </a:ext>
            </a:extLst>
          </p:cNvPr>
          <p:cNvSpPr/>
          <p:nvPr/>
        </p:nvSpPr>
        <p:spPr>
          <a:xfrm>
            <a:off x="4683967" y="5421087"/>
            <a:ext cx="242596" cy="102634"/>
          </a:xfrm>
          <a:prstGeom prst="rect">
            <a:avLst/>
          </a:prstGeom>
          <a:noFill/>
          <a:ln w="38100">
            <a:solidFill>
              <a:srgbClr val="FFB0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B3B7BA-9C6C-4A08-A398-A2D47F7C9A88}"/>
              </a:ext>
            </a:extLst>
          </p:cNvPr>
          <p:cNvSpPr/>
          <p:nvPr/>
        </p:nvSpPr>
        <p:spPr>
          <a:xfrm>
            <a:off x="2374527" y="2043404"/>
            <a:ext cx="363895" cy="1959430"/>
          </a:xfrm>
          <a:prstGeom prst="rect">
            <a:avLst/>
          </a:prstGeom>
          <a:noFill/>
          <a:ln w="38100">
            <a:solidFill>
              <a:srgbClr val="725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836D8A-5E56-D651-6519-D29F3E83ED82}"/>
              </a:ext>
            </a:extLst>
          </p:cNvPr>
          <p:cNvSpPr txBox="1"/>
          <p:nvPr/>
        </p:nvSpPr>
        <p:spPr>
          <a:xfrm>
            <a:off x="1093106" y="2949903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25EEC"/>
                </a:solidFill>
              </a:rPr>
              <a:t>Axis Label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9DB42-67B9-11D6-39D2-49ED2E382EF3}"/>
              </a:ext>
            </a:extLst>
          </p:cNvPr>
          <p:cNvSpPr txBox="1"/>
          <p:nvPr/>
        </p:nvSpPr>
        <p:spPr>
          <a:xfrm>
            <a:off x="1153379" y="564340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DF227C"/>
                </a:solidFill>
              </a:rPr>
              <a:t>Tick Labels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3080D6-4F51-5229-044C-6F60D1BCBFEE}"/>
              </a:ext>
            </a:extLst>
          </p:cNvPr>
          <p:cNvSpPr txBox="1"/>
          <p:nvPr/>
        </p:nvSpPr>
        <p:spPr>
          <a:xfrm>
            <a:off x="5958155" y="6146357"/>
            <a:ext cx="1211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B02F"/>
                </a:solidFill>
              </a:rPr>
              <a:t>Tick Marks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07F542-CE01-2FF5-0938-2D2FD06D67B9}"/>
              </a:ext>
            </a:extLst>
          </p:cNvPr>
          <p:cNvSpPr/>
          <p:nvPr/>
        </p:nvSpPr>
        <p:spPr>
          <a:xfrm>
            <a:off x="6590524" y="5424192"/>
            <a:ext cx="242596" cy="102634"/>
          </a:xfrm>
          <a:prstGeom prst="rect">
            <a:avLst/>
          </a:prstGeom>
          <a:noFill/>
          <a:ln w="38100">
            <a:solidFill>
              <a:srgbClr val="FFB0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44B558-8080-DE41-0466-60AF65170B9C}"/>
              </a:ext>
            </a:extLst>
          </p:cNvPr>
          <p:cNvSpPr/>
          <p:nvPr/>
        </p:nvSpPr>
        <p:spPr>
          <a:xfrm>
            <a:off x="2737055" y="2191143"/>
            <a:ext cx="258070" cy="340564"/>
          </a:xfrm>
          <a:prstGeom prst="rect">
            <a:avLst/>
          </a:prstGeom>
          <a:noFill/>
          <a:ln w="38100">
            <a:solidFill>
              <a:srgbClr val="DF2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664E43-7D41-66C0-6BA4-AE64ECD18743}"/>
              </a:ext>
            </a:extLst>
          </p:cNvPr>
          <p:cNvSpPr/>
          <p:nvPr/>
        </p:nvSpPr>
        <p:spPr>
          <a:xfrm>
            <a:off x="2737054" y="3810009"/>
            <a:ext cx="258070" cy="340564"/>
          </a:xfrm>
          <a:prstGeom prst="rect">
            <a:avLst/>
          </a:prstGeom>
          <a:noFill/>
          <a:ln w="38100">
            <a:solidFill>
              <a:srgbClr val="DF2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7AA48E-7D67-962B-9CEC-908FECF3A954}"/>
              </a:ext>
            </a:extLst>
          </p:cNvPr>
          <p:cNvSpPr/>
          <p:nvPr/>
        </p:nvSpPr>
        <p:spPr>
          <a:xfrm>
            <a:off x="8497081" y="5421086"/>
            <a:ext cx="242596" cy="102634"/>
          </a:xfrm>
          <a:prstGeom prst="rect">
            <a:avLst/>
          </a:prstGeom>
          <a:noFill/>
          <a:ln w="38100">
            <a:solidFill>
              <a:srgbClr val="FFB0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5DC85F-7F8D-94ED-DD40-F7EE143B490F}"/>
              </a:ext>
            </a:extLst>
          </p:cNvPr>
          <p:cNvSpPr/>
          <p:nvPr/>
        </p:nvSpPr>
        <p:spPr>
          <a:xfrm>
            <a:off x="4623318" y="5523720"/>
            <a:ext cx="363894" cy="304348"/>
          </a:xfrm>
          <a:prstGeom prst="rect">
            <a:avLst/>
          </a:prstGeom>
          <a:noFill/>
          <a:ln w="38100">
            <a:solidFill>
              <a:srgbClr val="DF22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6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96AF2-E705-3811-2514-C279A302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13DB992-6E0E-21FB-7550-B0A15CE9D2F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viz-roadmap-01.png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F67F9C5-A6FC-DEB4-5F95-F2A0F7D7E615}"/>
              </a:ext>
            </a:extLst>
          </p:cNvPr>
          <p:cNvSpPr/>
          <p:nvPr/>
        </p:nvSpPr>
        <p:spPr>
          <a:xfrm>
            <a:off x="3781573" y="1336962"/>
            <a:ext cx="4441816" cy="467591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my </a:t>
            </a:r>
            <a:r>
              <a:rPr lang="en-US" b="1" u="sng" dirty="0">
                <a:solidFill>
                  <a:srgbClr val="222222"/>
                </a:solidFill>
              </a:rPr>
              <a:t>explanatory</a:t>
            </a:r>
            <a:r>
              <a:rPr lang="en-US" b="1" dirty="0">
                <a:solidFill>
                  <a:srgbClr val="222222"/>
                </a:solidFill>
              </a:rPr>
              <a:t> variable categorical?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A768A05-C992-D6D8-827E-24AD1B6D82D4}"/>
              </a:ext>
            </a:extLst>
          </p:cNvPr>
          <p:cNvSpPr/>
          <p:nvPr/>
        </p:nvSpPr>
        <p:spPr>
          <a:xfrm>
            <a:off x="1589120" y="2744636"/>
            <a:ext cx="2784765" cy="756437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6018"/>
                </a:solidFill>
              </a:rPr>
              <a:t>Is the </a:t>
            </a:r>
            <a:r>
              <a:rPr lang="en-US" b="1" u="sng" dirty="0">
                <a:solidFill>
                  <a:srgbClr val="FF6018"/>
                </a:solidFill>
              </a:rPr>
              <a:t>range</a:t>
            </a:r>
            <a:r>
              <a:rPr lang="en-US" b="1" dirty="0">
                <a:solidFill>
                  <a:srgbClr val="FF6018"/>
                </a:solidFill>
              </a:rPr>
              <a:t> of the data what’s important?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EEDABB9-D899-E146-E85C-7C46F81824AF}"/>
              </a:ext>
            </a:extLst>
          </p:cNvPr>
          <p:cNvSpPr/>
          <p:nvPr/>
        </p:nvSpPr>
        <p:spPr>
          <a:xfrm>
            <a:off x="997923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725EEC"/>
                </a:solidFill>
              </a:rPr>
              <a:t>Scatterplot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017FC37-B6D6-CCEF-2595-3386FC061C96}"/>
              </a:ext>
            </a:extLst>
          </p:cNvPr>
          <p:cNvSpPr/>
          <p:nvPr/>
        </p:nvSpPr>
        <p:spPr>
          <a:xfrm>
            <a:off x="719447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725EEC"/>
                </a:solidFill>
              </a:rPr>
              <a:t>Scatterplot + ”Best Fit” Line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4797C679-7B56-6776-2B59-8E45F675506B}"/>
              </a:ext>
            </a:extLst>
          </p:cNvPr>
          <p:cNvCxnSpPr>
            <a:cxnSpLocks/>
            <a:stCxn id="14" idx="2"/>
            <a:endCxn id="24" idx="0"/>
          </p:cNvCxnSpPr>
          <p:nvPr/>
        </p:nvCxnSpPr>
        <p:spPr>
          <a:xfrm rot="16200000" flipH="1">
            <a:off x="7236983" y="570050"/>
            <a:ext cx="1069003" cy="3538007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D8F6B5E9-8F31-8C57-22E3-C1074161BAB3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4021951" y="764105"/>
            <a:ext cx="940083" cy="3020978"/>
          </a:xfrm>
          <a:prstGeom prst="curvedConnector3">
            <a:avLst/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0004FB2-46A4-83AD-B7DC-6A7255DDDB9C}"/>
              </a:ext>
            </a:extLst>
          </p:cNvPr>
          <p:cNvSpPr/>
          <p:nvPr/>
        </p:nvSpPr>
        <p:spPr>
          <a:xfrm>
            <a:off x="8148105" y="2873556"/>
            <a:ext cx="2784765" cy="498596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6018"/>
                </a:solidFill>
              </a:rPr>
              <a:t>Do I care about the </a:t>
            </a:r>
            <a:r>
              <a:rPr lang="en-US" b="1" u="sng" dirty="0">
                <a:solidFill>
                  <a:srgbClr val="FF6018"/>
                </a:solidFill>
              </a:rPr>
              <a:t>trend</a:t>
            </a:r>
            <a:r>
              <a:rPr lang="en-US" b="1" dirty="0">
                <a:solidFill>
                  <a:srgbClr val="FF6018"/>
                </a:solidFill>
              </a:rPr>
              <a:t>?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4F997C51-A7ED-9798-A1B1-84EF4A206470}"/>
              </a:ext>
            </a:extLst>
          </p:cNvPr>
          <p:cNvCxnSpPr>
            <a:cxnSpLocks/>
            <a:stCxn id="24" idx="2"/>
            <a:endCxn id="16" idx="0"/>
          </p:cNvCxnSpPr>
          <p:nvPr/>
        </p:nvCxnSpPr>
        <p:spPr>
          <a:xfrm rot="16200000" flipH="1">
            <a:off x="9506672" y="3405968"/>
            <a:ext cx="1460014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B3C30B3C-6D67-7390-77A3-B7AEA120A416}"/>
              </a:ext>
            </a:extLst>
          </p:cNvPr>
          <p:cNvCxnSpPr>
            <a:cxnSpLocks/>
            <a:stCxn id="24" idx="2"/>
            <a:endCxn id="17" idx="0"/>
          </p:cNvCxnSpPr>
          <p:nvPr/>
        </p:nvCxnSpPr>
        <p:spPr>
          <a:xfrm rot="5400000">
            <a:off x="8114290" y="3405968"/>
            <a:ext cx="1460014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C72B49F-A71D-ED92-93FF-26C12D83E12B}"/>
              </a:ext>
            </a:extLst>
          </p:cNvPr>
          <p:cNvSpPr txBox="1"/>
          <p:nvPr/>
        </p:nvSpPr>
        <p:spPr>
          <a:xfrm>
            <a:off x="7459681" y="198088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DC3DEC-892B-06A5-A568-A1C5DA41E5CB}"/>
              </a:ext>
            </a:extLst>
          </p:cNvPr>
          <p:cNvSpPr txBox="1"/>
          <p:nvPr/>
        </p:nvSpPr>
        <p:spPr>
          <a:xfrm>
            <a:off x="10236679" y="368608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9A08E7-BE3C-DB91-26AE-2B9639F1F8FF}"/>
              </a:ext>
            </a:extLst>
          </p:cNvPr>
          <p:cNvSpPr txBox="1"/>
          <p:nvPr/>
        </p:nvSpPr>
        <p:spPr>
          <a:xfrm>
            <a:off x="8452575" y="3686082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7F8B37D-5F69-EC57-105B-89B50B7728DE}"/>
              </a:ext>
            </a:extLst>
          </p:cNvPr>
          <p:cNvSpPr txBox="1"/>
          <p:nvPr/>
        </p:nvSpPr>
        <p:spPr>
          <a:xfrm>
            <a:off x="4298675" y="193552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cxnSp>
        <p:nvCxnSpPr>
          <p:cNvPr id="61" name="Curved Connector 60">
            <a:extLst>
              <a:ext uri="{FF2B5EF4-FFF2-40B4-BE49-F238E27FC236}">
                <a16:creationId xmlns:a16="http://schemas.microsoft.com/office/drawing/2014/main" id="{1F59A1FF-4043-ADF3-0AF7-42CC13B01815}"/>
              </a:ext>
            </a:extLst>
          </p:cNvPr>
          <p:cNvCxnSpPr>
            <a:cxnSpLocks/>
            <a:stCxn id="15" idx="2"/>
            <a:endCxn id="67" idx="0"/>
          </p:cNvCxnSpPr>
          <p:nvPr/>
        </p:nvCxnSpPr>
        <p:spPr>
          <a:xfrm rot="16200000" flipH="1">
            <a:off x="3012148" y="3470428"/>
            <a:ext cx="1331093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6D7240B3-11F8-6543-E51F-10A2786CAD14}"/>
              </a:ext>
            </a:extLst>
          </p:cNvPr>
          <p:cNvCxnSpPr>
            <a:cxnSpLocks/>
            <a:stCxn id="15" idx="2"/>
            <a:endCxn id="68" idx="0"/>
          </p:cNvCxnSpPr>
          <p:nvPr/>
        </p:nvCxnSpPr>
        <p:spPr>
          <a:xfrm rot="5400000">
            <a:off x="1619766" y="3470428"/>
            <a:ext cx="1331093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42090E9-05C7-B32E-3578-AE3659BD930E}"/>
              </a:ext>
            </a:extLst>
          </p:cNvPr>
          <p:cNvSpPr txBox="1"/>
          <p:nvPr/>
        </p:nvSpPr>
        <p:spPr>
          <a:xfrm>
            <a:off x="3606044" y="379728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7A069E9-5C1D-2CF4-B8FA-2B56FE1F72D6}"/>
              </a:ext>
            </a:extLst>
          </p:cNvPr>
          <p:cNvSpPr txBox="1"/>
          <p:nvPr/>
        </p:nvSpPr>
        <p:spPr>
          <a:xfrm>
            <a:off x="1932730" y="3797287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C1F748B-2063-5ADC-E0AC-9E1951983B80}"/>
              </a:ext>
            </a:extLst>
          </p:cNvPr>
          <p:cNvSpPr/>
          <p:nvPr/>
        </p:nvSpPr>
        <p:spPr>
          <a:xfrm>
            <a:off x="342025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725EEC"/>
                </a:solidFill>
              </a:rPr>
              <a:t>Bar Graph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281211D-A13E-ACF6-B1B6-44C311A9AA4F}"/>
              </a:ext>
            </a:extLst>
          </p:cNvPr>
          <p:cNvSpPr/>
          <p:nvPr/>
        </p:nvSpPr>
        <p:spPr>
          <a:xfrm>
            <a:off x="63548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725EEC"/>
                </a:solidFill>
              </a:rPr>
              <a:t>Boxplot / </a:t>
            </a:r>
          </a:p>
          <a:p>
            <a:pPr algn="ctr"/>
            <a:r>
              <a:rPr lang="en-US" sz="2000" b="1" dirty="0">
                <a:solidFill>
                  <a:srgbClr val="725EEC"/>
                </a:solidFill>
              </a:rPr>
              <a:t>Violin Plot</a:t>
            </a:r>
          </a:p>
        </p:txBody>
      </p:sp>
    </p:spTree>
    <p:extLst>
      <p:ext uri="{BB962C8B-B14F-4D97-AF65-F5344CB8AC3E}">
        <p14:creationId xmlns:p14="http://schemas.microsoft.com/office/powerpoint/2010/main" val="2631861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7F1A4-843B-4E73-CAAF-D6A8B4D8D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E0E8C3A-D46E-1CC8-783A-6EF59DB4B55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viz-roadmap-02.png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7824B0-933B-793D-86CF-AE96DB99C474}"/>
              </a:ext>
            </a:extLst>
          </p:cNvPr>
          <p:cNvSpPr/>
          <p:nvPr/>
        </p:nvSpPr>
        <p:spPr>
          <a:xfrm>
            <a:off x="3781573" y="1336962"/>
            <a:ext cx="4441816" cy="467591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my </a:t>
            </a:r>
            <a:r>
              <a:rPr lang="en-US" b="1" u="sng" dirty="0">
                <a:solidFill>
                  <a:srgbClr val="222222"/>
                </a:solidFill>
              </a:rPr>
              <a:t>explanatory</a:t>
            </a:r>
            <a:r>
              <a:rPr lang="en-US" b="1" dirty="0">
                <a:solidFill>
                  <a:srgbClr val="222222"/>
                </a:solidFill>
              </a:rPr>
              <a:t> variable categorical?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E09BE07-63F2-5D0E-E14F-E31161565546}"/>
              </a:ext>
            </a:extLst>
          </p:cNvPr>
          <p:cNvSpPr/>
          <p:nvPr/>
        </p:nvSpPr>
        <p:spPr>
          <a:xfrm>
            <a:off x="1589120" y="2744636"/>
            <a:ext cx="2784765" cy="756437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the </a:t>
            </a:r>
            <a:r>
              <a:rPr lang="en-US" b="1" u="sng" dirty="0">
                <a:solidFill>
                  <a:srgbClr val="222222"/>
                </a:solidFill>
              </a:rPr>
              <a:t>range</a:t>
            </a:r>
            <a:r>
              <a:rPr lang="en-US" b="1" dirty="0">
                <a:solidFill>
                  <a:srgbClr val="222222"/>
                </a:solidFill>
              </a:rPr>
              <a:t> of the data what’s important?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3766C19-349A-EB46-4202-425D27689CE5}"/>
              </a:ext>
            </a:extLst>
          </p:cNvPr>
          <p:cNvSpPr/>
          <p:nvPr/>
        </p:nvSpPr>
        <p:spPr>
          <a:xfrm>
            <a:off x="997923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725EEC"/>
                </a:solidFill>
              </a:rPr>
              <a:t>Scatterplot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81E3816-74B3-3FFB-5D67-6BF141D6B480}"/>
              </a:ext>
            </a:extLst>
          </p:cNvPr>
          <p:cNvSpPr/>
          <p:nvPr/>
        </p:nvSpPr>
        <p:spPr>
          <a:xfrm>
            <a:off x="719447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725EEC"/>
                </a:solidFill>
              </a:rPr>
              <a:t>Scatterplot + ”Best Fit” Line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26D491FF-8E3A-2FA6-3DCC-6EF363FF62AC}"/>
              </a:ext>
            </a:extLst>
          </p:cNvPr>
          <p:cNvCxnSpPr>
            <a:cxnSpLocks/>
            <a:stCxn id="14" idx="2"/>
            <a:endCxn id="24" idx="0"/>
          </p:cNvCxnSpPr>
          <p:nvPr/>
        </p:nvCxnSpPr>
        <p:spPr>
          <a:xfrm rot="16200000" flipH="1">
            <a:off x="7236983" y="570050"/>
            <a:ext cx="1069003" cy="3538007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100EBC6C-94B6-DA79-5611-CB5883B87781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4021951" y="764105"/>
            <a:ext cx="940083" cy="3020978"/>
          </a:xfrm>
          <a:prstGeom prst="curvedConnector3">
            <a:avLst/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F85D9EA-9743-0227-2A48-B34D12A52F51}"/>
              </a:ext>
            </a:extLst>
          </p:cNvPr>
          <p:cNvSpPr/>
          <p:nvPr/>
        </p:nvSpPr>
        <p:spPr>
          <a:xfrm>
            <a:off x="8148105" y="2873556"/>
            <a:ext cx="2784765" cy="498596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6018"/>
                </a:solidFill>
              </a:rPr>
              <a:t>Do I care about the </a:t>
            </a:r>
            <a:r>
              <a:rPr lang="en-US" b="1" u="sng" dirty="0">
                <a:solidFill>
                  <a:srgbClr val="FF6018"/>
                </a:solidFill>
              </a:rPr>
              <a:t>trend</a:t>
            </a:r>
            <a:r>
              <a:rPr lang="en-US" b="1" dirty="0">
                <a:solidFill>
                  <a:srgbClr val="FF6018"/>
                </a:solidFill>
              </a:rPr>
              <a:t>?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7C842EF5-A488-8B7B-1A7E-1FBE03004E27}"/>
              </a:ext>
            </a:extLst>
          </p:cNvPr>
          <p:cNvCxnSpPr>
            <a:cxnSpLocks/>
            <a:stCxn id="24" idx="2"/>
            <a:endCxn id="16" idx="0"/>
          </p:cNvCxnSpPr>
          <p:nvPr/>
        </p:nvCxnSpPr>
        <p:spPr>
          <a:xfrm rot="16200000" flipH="1">
            <a:off x="9506672" y="3405968"/>
            <a:ext cx="1460014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E6A643F-D4F9-2E5B-C58A-90D1ED465AE8}"/>
              </a:ext>
            </a:extLst>
          </p:cNvPr>
          <p:cNvCxnSpPr>
            <a:cxnSpLocks/>
            <a:stCxn id="24" idx="2"/>
            <a:endCxn id="17" idx="0"/>
          </p:cNvCxnSpPr>
          <p:nvPr/>
        </p:nvCxnSpPr>
        <p:spPr>
          <a:xfrm rot="5400000">
            <a:off x="8114290" y="3405968"/>
            <a:ext cx="1460014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D5A9F1F-7CD6-3BB1-3B4C-FB32181A673A}"/>
              </a:ext>
            </a:extLst>
          </p:cNvPr>
          <p:cNvSpPr txBox="1"/>
          <p:nvPr/>
        </p:nvSpPr>
        <p:spPr>
          <a:xfrm>
            <a:off x="7459681" y="198088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583B94-B25B-542F-87C2-61D5C1126087}"/>
              </a:ext>
            </a:extLst>
          </p:cNvPr>
          <p:cNvSpPr txBox="1"/>
          <p:nvPr/>
        </p:nvSpPr>
        <p:spPr>
          <a:xfrm>
            <a:off x="10236679" y="368608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FDDBD3-41E2-0C76-9B87-9C02CAA876F7}"/>
              </a:ext>
            </a:extLst>
          </p:cNvPr>
          <p:cNvSpPr txBox="1"/>
          <p:nvPr/>
        </p:nvSpPr>
        <p:spPr>
          <a:xfrm>
            <a:off x="8452575" y="3686082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B2F61A-80B4-27C6-2982-E1E0FF94547E}"/>
              </a:ext>
            </a:extLst>
          </p:cNvPr>
          <p:cNvSpPr txBox="1"/>
          <p:nvPr/>
        </p:nvSpPr>
        <p:spPr>
          <a:xfrm>
            <a:off x="4298675" y="193552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cxnSp>
        <p:nvCxnSpPr>
          <p:cNvPr id="61" name="Curved Connector 60">
            <a:extLst>
              <a:ext uri="{FF2B5EF4-FFF2-40B4-BE49-F238E27FC236}">
                <a16:creationId xmlns:a16="http://schemas.microsoft.com/office/drawing/2014/main" id="{0062FC38-DCE8-FF36-E7F5-C8FB2AA1FD21}"/>
              </a:ext>
            </a:extLst>
          </p:cNvPr>
          <p:cNvCxnSpPr>
            <a:cxnSpLocks/>
            <a:stCxn id="15" idx="2"/>
            <a:endCxn id="67" idx="0"/>
          </p:cNvCxnSpPr>
          <p:nvPr/>
        </p:nvCxnSpPr>
        <p:spPr>
          <a:xfrm rot="16200000" flipH="1">
            <a:off x="3012148" y="3470428"/>
            <a:ext cx="1331093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F307BD37-CE6A-8205-9852-7653BE00F5E2}"/>
              </a:ext>
            </a:extLst>
          </p:cNvPr>
          <p:cNvCxnSpPr>
            <a:cxnSpLocks/>
            <a:stCxn id="15" idx="2"/>
            <a:endCxn id="68" idx="0"/>
          </p:cNvCxnSpPr>
          <p:nvPr/>
        </p:nvCxnSpPr>
        <p:spPr>
          <a:xfrm rot="5400000">
            <a:off x="1619766" y="3470428"/>
            <a:ext cx="1331093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499BADC-267E-5F21-3D86-E8DAD7506BD7}"/>
              </a:ext>
            </a:extLst>
          </p:cNvPr>
          <p:cNvSpPr txBox="1"/>
          <p:nvPr/>
        </p:nvSpPr>
        <p:spPr>
          <a:xfrm>
            <a:off x="3606044" y="379728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77073CF-A303-FFB4-4388-F7DC7D4C005D}"/>
              </a:ext>
            </a:extLst>
          </p:cNvPr>
          <p:cNvSpPr txBox="1"/>
          <p:nvPr/>
        </p:nvSpPr>
        <p:spPr>
          <a:xfrm>
            <a:off x="1932730" y="3797287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5F7483A-9E3D-BF32-E495-B9FC3BB2640F}"/>
              </a:ext>
            </a:extLst>
          </p:cNvPr>
          <p:cNvSpPr/>
          <p:nvPr/>
        </p:nvSpPr>
        <p:spPr>
          <a:xfrm>
            <a:off x="342025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725EEC"/>
                </a:solidFill>
              </a:rPr>
              <a:t>Bar Graph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C26AAF97-9DB3-C0A2-9777-377A965E6E3B}"/>
              </a:ext>
            </a:extLst>
          </p:cNvPr>
          <p:cNvSpPr/>
          <p:nvPr/>
        </p:nvSpPr>
        <p:spPr>
          <a:xfrm>
            <a:off x="63548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725EEC"/>
                </a:solidFill>
              </a:rPr>
              <a:t>Boxplot / </a:t>
            </a:r>
          </a:p>
          <a:p>
            <a:pPr algn="ctr"/>
            <a:r>
              <a:rPr lang="en-US" sz="2000" b="1" dirty="0">
                <a:solidFill>
                  <a:srgbClr val="725EEC"/>
                </a:solidFill>
              </a:rPr>
              <a:t>Violin Plot</a:t>
            </a:r>
          </a:p>
        </p:txBody>
      </p:sp>
    </p:spTree>
    <p:extLst>
      <p:ext uri="{BB962C8B-B14F-4D97-AF65-F5344CB8AC3E}">
        <p14:creationId xmlns:p14="http://schemas.microsoft.com/office/powerpoint/2010/main" val="3622448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F3070-5466-6EC3-73A7-FD5C72D6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32CB21D-5B1C-0E0B-FA12-173A504F60D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viz-roadmap-03.png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7EF5F33-B89D-605D-34C9-DB17C4A535F1}"/>
              </a:ext>
            </a:extLst>
          </p:cNvPr>
          <p:cNvSpPr/>
          <p:nvPr/>
        </p:nvSpPr>
        <p:spPr>
          <a:xfrm>
            <a:off x="3781573" y="1336962"/>
            <a:ext cx="4441816" cy="467591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my </a:t>
            </a:r>
            <a:r>
              <a:rPr lang="en-US" b="1" u="sng" dirty="0">
                <a:solidFill>
                  <a:srgbClr val="222222"/>
                </a:solidFill>
              </a:rPr>
              <a:t>explanatory</a:t>
            </a:r>
            <a:r>
              <a:rPr lang="en-US" b="1" dirty="0">
                <a:solidFill>
                  <a:srgbClr val="222222"/>
                </a:solidFill>
              </a:rPr>
              <a:t> variable categorical?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5E48FC-34C7-F7A2-D4DF-DAC1D58721A5}"/>
              </a:ext>
            </a:extLst>
          </p:cNvPr>
          <p:cNvSpPr/>
          <p:nvPr/>
        </p:nvSpPr>
        <p:spPr>
          <a:xfrm>
            <a:off x="1589120" y="2744636"/>
            <a:ext cx="2784765" cy="756437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the </a:t>
            </a:r>
            <a:r>
              <a:rPr lang="en-US" b="1" u="sng" dirty="0">
                <a:solidFill>
                  <a:srgbClr val="222222"/>
                </a:solidFill>
              </a:rPr>
              <a:t>range</a:t>
            </a:r>
            <a:r>
              <a:rPr lang="en-US" b="1" dirty="0">
                <a:solidFill>
                  <a:srgbClr val="222222"/>
                </a:solidFill>
              </a:rPr>
              <a:t> of the data what’s important?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EE27554-CB12-CB31-E233-A75D69D4176A}"/>
              </a:ext>
            </a:extLst>
          </p:cNvPr>
          <p:cNvSpPr/>
          <p:nvPr/>
        </p:nvSpPr>
        <p:spPr>
          <a:xfrm>
            <a:off x="997923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725EEC"/>
                </a:solidFill>
              </a:rPr>
              <a:t>Scatterplot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D162E69-714F-8FBA-F114-466923FA11BD}"/>
              </a:ext>
            </a:extLst>
          </p:cNvPr>
          <p:cNvSpPr/>
          <p:nvPr/>
        </p:nvSpPr>
        <p:spPr>
          <a:xfrm>
            <a:off x="719447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725EEC"/>
                </a:solidFill>
              </a:rPr>
              <a:t>Scatterplot + ”Best Fit” Line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CA7ADC61-6FD4-9DBB-C9DA-F192850C5E14}"/>
              </a:ext>
            </a:extLst>
          </p:cNvPr>
          <p:cNvCxnSpPr>
            <a:cxnSpLocks/>
            <a:stCxn id="14" idx="2"/>
            <a:endCxn id="24" idx="0"/>
          </p:cNvCxnSpPr>
          <p:nvPr/>
        </p:nvCxnSpPr>
        <p:spPr>
          <a:xfrm rot="16200000" flipH="1">
            <a:off x="7236983" y="570050"/>
            <a:ext cx="1069003" cy="3538007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E3746092-B76B-751A-45CD-C63985858AE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4021951" y="764105"/>
            <a:ext cx="940083" cy="3020978"/>
          </a:xfrm>
          <a:prstGeom prst="curvedConnector3">
            <a:avLst/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8859825-EF0D-8591-32FB-71B41D44AC8A}"/>
              </a:ext>
            </a:extLst>
          </p:cNvPr>
          <p:cNvSpPr/>
          <p:nvPr/>
        </p:nvSpPr>
        <p:spPr>
          <a:xfrm>
            <a:off x="8148105" y="2873556"/>
            <a:ext cx="2784765" cy="498596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6018"/>
                </a:solidFill>
              </a:rPr>
              <a:t>Do I care about the </a:t>
            </a:r>
            <a:r>
              <a:rPr lang="en-US" b="1" u="sng" dirty="0">
                <a:solidFill>
                  <a:srgbClr val="FF6018"/>
                </a:solidFill>
              </a:rPr>
              <a:t>trend</a:t>
            </a:r>
            <a:r>
              <a:rPr lang="en-US" b="1" dirty="0">
                <a:solidFill>
                  <a:srgbClr val="FF6018"/>
                </a:solidFill>
              </a:rPr>
              <a:t>?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A54BB5C-4A7E-A156-BA70-797186A47822}"/>
              </a:ext>
            </a:extLst>
          </p:cNvPr>
          <p:cNvCxnSpPr>
            <a:cxnSpLocks/>
            <a:stCxn id="24" idx="2"/>
            <a:endCxn id="16" idx="0"/>
          </p:cNvCxnSpPr>
          <p:nvPr/>
        </p:nvCxnSpPr>
        <p:spPr>
          <a:xfrm rot="16200000" flipH="1">
            <a:off x="9506672" y="3405968"/>
            <a:ext cx="1460014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E29606C-DCE7-9608-4BF9-CFAF2BFDBF38}"/>
              </a:ext>
            </a:extLst>
          </p:cNvPr>
          <p:cNvCxnSpPr>
            <a:cxnSpLocks/>
            <a:stCxn id="24" idx="2"/>
            <a:endCxn id="17" idx="0"/>
          </p:cNvCxnSpPr>
          <p:nvPr/>
        </p:nvCxnSpPr>
        <p:spPr>
          <a:xfrm rot="5400000">
            <a:off x="8114290" y="3405968"/>
            <a:ext cx="1460014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85419FA-3707-6724-C627-E714CA266776}"/>
              </a:ext>
            </a:extLst>
          </p:cNvPr>
          <p:cNvSpPr txBox="1"/>
          <p:nvPr/>
        </p:nvSpPr>
        <p:spPr>
          <a:xfrm>
            <a:off x="7459681" y="198088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1B9660-A65D-BC5F-F64A-1CF0AD4D6FFC}"/>
              </a:ext>
            </a:extLst>
          </p:cNvPr>
          <p:cNvSpPr txBox="1"/>
          <p:nvPr/>
        </p:nvSpPr>
        <p:spPr>
          <a:xfrm>
            <a:off x="10236679" y="368608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7D2F5F-FACA-7677-13ED-CE9990819839}"/>
              </a:ext>
            </a:extLst>
          </p:cNvPr>
          <p:cNvSpPr txBox="1"/>
          <p:nvPr/>
        </p:nvSpPr>
        <p:spPr>
          <a:xfrm>
            <a:off x="8452575" y="3686082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435BAC-DFA2-5040-C004-19E6B29797C2}"/>
              </a:ext>
            </a:extLst>
          </p:cNvPr>
          <p:cNvSpPr txBox="1"/>
          <p:nvPr/>
        </p:nvSpPr>
        <p:spPr>
          <a:xfrm>
            <a:off x="4298675" y="193552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cxnSp>
        <p:nvCxnSpPr>
          <p:cNvPr id="61" name="Curved Connector 60">
            <a:extLst>
              <a:ext uri="{FF2B5EF4-FFF2-40B4-BE49-F238E27FC236}">
                <a16:creationId xmlns:a16="http://schemas.microsoft.com/office/drawing/2014/main" id="{CCCAC08A-1CE3-CCBB-7F3C-AAAA7ADDCE6A}"/>
              </a:ext>
            </a:extLst>
          </p:cNvPr>
          <p:cNvCxnSpPr>
            <a:cxnSpLocks/>
            <a:stCxn id="15" idx="2"/>
            <a:endCxn id="67" idx="0"/>
          </p:cNvCxnSpPr>
          <p:nvPr/>
        </p:nvCxnSpPr>
        <p:spPr>
          <a:xfrm rot="16200000" flipH="1">
            <a:off x="3012148" y="3470428"/>
            <a:ext cx="1331093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6B3D6EDD-555D-51FE-8482-06062D57A522}"/>
              </a:ext>
            </a:extLst>
          </p:cNvPr>
          <p:cNvCxnSpPr>
            <a:cxnSpLocks/>
            <a:stCxn id="15" idx="2"/>
            <a:endCxn id="68" idx="0"/>
          </p:cNvCxnSpPr>
          <p:nvPr/>
        </p:nvCxnSpPr>
        <p:spPr>
          <a:xfrm rot="5400000">
            <a:off x="1619766" y="3470428"/>
            <a:ext cx="1331093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85DA50F-4E26-C7F6-8E4D-684811FA6E8A}"/>
              </a:ext>
            </a:extLst>
          </p:cNvPr>
          <p:cNvSpPr txBox="1"/>
          <p:nvPr/>
        </p:nvSpPr>
        <p:spPr>
          <a:xfrm>
            <a:off x="3606044" y="379728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94BD7C3-7553-F066-21FE-32C08EF3C645}"/>
              </a:ext>
            </a:extLst>
          </p:cNvPr>
          <p:cNvSpPr txBox="1"/>
          <p:nvPr/>
        </p:nvSpPr>
        <p:spPr>
          <a:xfrm>
            <a:off x="1932730" y="3797287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3879DB1-05FA-18AF-2DCE-745FD8BC5AA0}"/>
              </a:ext>
            </a:extLst>
          </p:cNvPr>
          <p:cNvSpPr/>
          <p:nvPr/>
        </p:nvSpPr>
        <p:spPr>
          <a:xfrm>
            <a:off x="342025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222222"/>
                </a:solidFill>
              </a:rPr>
              <a:t>Bar Graph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B9111BC-80DF-E5B3-ECDB-E89D453C327C}"/>
              </a:ext>
            </a:extLst>
          </p:cNvPr>
          <p:cNvSpPr/>
          <p:nvPr/>
        </p:nvSpPr>
        <p:spPr>
          <a:xfrm>
            <a:off x="63548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222222"/>
                </a:solidFill>
              </a:rPr>
              <a:t>Boxplot / </a:t>
            </a:r>
          </a:p>
          <a:p>
            <a:pPr algn="ctr"/>
            <a:r>
              <a:rPr lang="en-US" sz="2000" b="1" dirty="0">
                <a:solidFill>
                  <a:srgbClr val="222222"/>
                </a:solidFill>
              </a:rPr>
              <a:t>Violin Plot</a:t>
            </a:r>
          </a:p>
        </p:txBody>
      </p:sp>
    </p:spTree>
    <p:extLst>
      <p:ext uri="{BB962C8B-B14F-4D97-AF65-F5344CB8AC3E}">
        <p14:creationId xmlns:p14="http://schemas.microsoft.com/office/powerpoint/2010/main" val="490893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F671-D839-422D-0BA1-2B6291480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35222DF-3392-712E-710F-28C7AF8F6A4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viz-roadmap-04.png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A1C6413-062E-5C7C-00BE-691957440529}"/>
              </a:ext>
            </a:extLst>
          </p:cNvPr>
          <p:cNvSpPr/>
          <p:nvPr/>
        </p:nvSpPr>
        <p:spPr>
          <a:xfrm>
            <a:off x="3781573" y="1336962"/>
            <a:ext cx="4441816" cy="467591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my </a:t>
            </a:r>
            <a:r>
              <a:rPr lang="en-US" b="1" u="sng" dirty="0">
                <a:solidFill>
                  <a:srgbClr val="222222"/>
                </a:solidFill>
              </a:rPr>
              <a:t>explanatory</a:t>
            </a:r>
            <a:r>
              <a:rPr lang="en-US" b="1" dirty="0">
                <a:solidFill>
                  <a:srgbClr val="222222"/>
                </a:solidFill>
              </a:rPr>
              <a:t> variable categorical?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AD4D0AF-D731-8AC3-F8E5-E4237420E0F0}"/>
              </a:ext>
            </a:extLst>
          </p:cNvPr>
          <p:cNvSpPr/>
          <p:nvPr/>
        </p:nvSpPr>
        <p:spPr>
          <a:xfrm>
            <a:off x="1589120" y="2744636"/>
            <a:ext cx="2784765" cy="756437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the </a:t>
            </a:r>
            <a:r>
              <a:rPr lang="en-US" b="1" u="sng" dirty="0">
                <a:solidFill>
                  <a:srgbClr val="222222"/>
                </a:solidFill>
              </a:rPr>
              <a:t>range</a:t>
            </a:r>
            <a:r>
              <a:rPr lang="en-US" b="1" dirty="0">
                <a:solidFill>
                  <a:srgbClr val="222222"/>
                </a:solidFill>
              </a:rPr>
              <a:t> of the data what’s important?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39F5C87-D56E-A795-8F57-E087F51C6553}"/>
              </a:ext>
            </a:extLst>
          </p:cNvPr>
          <p:cNvSpPr/>
          <p:nvPr/>
        </p:nvSpPr>
        <p:spPr>
          <a:xfrm>
            <a:off x="997923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725EEC"/>
                </a:solidFill>
              </a:rPr>
              <a:t>Scatterplot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E310AB4-46DB-248F-C314-F02B7C97A6D7}"/>
              </a:ext>
            </a:extLst>
          </p:cNvPr>
          <p:cNvSpPr/>
          <p:nvPr/>
        </p:nvSpPr>
        <p:spPr>
          <a:xfrm>
            <a:off x="719447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725EEC"/>
                </a:solidFill>
              </a:rPr>
              <a:t>Scatterplot + ”Best Fit” Line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1687DCD4-CF6E-2ED5-B2C0-F06A9FB6E4AD}"/>
              </a:ext>
            </a:extLst>
          </p:cNvPr>
          <p:cNvCxnSpPr>
            <a:cxnSpLocks/>
            <a:stCxn id="14" idx="2"/>
            <a:endCxn id="24" idx="0"/>
          </p:cNvCxnSpPr>
          <p:nvPr/>
        </p:nvCxnSpPr>
        <p:spPr>
          <a:xfrm rot="16200000" flipH="1">
            <a:off x="7236983" y="570050"/>
            <a:ext cx="1069003" cy="3538007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3034D825-A8BD-E031-9250-9EE6B3EC3D0E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4021951" y="764105"/>
            <a:ext cx="940083" cy="3020978"/>
          </a:xfrm>
          <a:prstGeom prst="curvedConnector3">
            <a:avLst/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7B9F2356-53E9-05FA-A96A-DA6801BAD127}"/>
              </a:ext>
            </a:extLst>
          </p:cNvPr>
          <p:cNvSpPr/>
          <p:nvPr/>
        </p:nvSpPr>
        <p:spPr>
          <a:xfrm>
            <a:off x="8148105" y="2873556"/>
            <a:ext cx="2784765" cy="498596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Do I care about the </a:t>
            </a:r>
            <a:r>
              <a:rPr lang="en-US" b="1" u="sng" dirty="0">
                <a:solidFill>
                  <a:srgbClr val="222222"/>
                </a:solidFill>
              </a:rPr>
              <a:t>trend</a:t>
            </a:r>
            <a:r>
              <a:rPr lang="en-US" b="1" dirty="0">
                <a:solidFill>
                  <a:srgbClr val="222222"/>
                </a:solidFill>
              </a:rPr>
              <a:t>?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56672001-8311-C58F-271E-833816D5528D}"/>
              </a:ext>
            </a:extLst>
          </p:cNvPr>
          <p:cNvCxnSpPr>
            <a:cxnSpLocks/>
            <a:stCxn id="24" idx="2"/>
            <a:endCxn id="16" idx="0"/>
          </p:cNvCxnSpPr>
          <p:nvPr/>
        </p:nvCxnSpPr>
        <p:spPr>
          <a:xfrm rot="16200000" flipH="1">
            <a:off x="9506672" y="3405968"/>
            <a:ext cx="1460014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60C71390-50C4-00F7-A54F-EC8D9327EC28}"/>
              </a:ext>
            </a:extLst>
          </p:cNvPr>
          <p:cNvCxnSpPr>
            <a:cxnSpLocks/>
            <a:stCxn id="24" idx="2"/>
            <a:endCxn id="17" idx="0"/>
          </p:cNvCxnSpPr>
          <p:nvPr/>
        </p:nvCxnSpPr>
        <p:spPr>
          <a:xfrm rot="5400000">
            <a:off x="8114290" y="3405968"/>
            <a:ext cx="1460014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04839C0-37DB-F69E-2FF4-461AA04241C9}"/>
              </a:ext>
            </a:extLst>
          </p:cNvPr>
          <p:cNvSpPr txBox="1"/>
          <p:nvPr/>
        </p:nvSpPr>
        <p:spPr>
          <a:xfrm>
            <a:off x="7459681" y="198088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818EE5-29CF-9046-907A-78B9AB9B3A7E}"/>
              </a:ext>
            </a:extLst>
          </p:cNvPr>
          <p:cNvSpPr txBox="1"/>
          <p:nvPr/>
        </p:nvSpPr>
        <p:spPr>
          <a:xfrm>
            <a:off x="10236679" y="368608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D8AFD7-C8D8-4101-5E14-97ADEDC9C230}"/>
              </a:ext>
            </a:extLst>
          </p:cNvPr>
          <p:cNvSpPr txBox="1"/>
          <p:nvPr/>
        </p:nvSpPr>
        <p:spPr>
          <a:xfrm>
            <a:off x="8452575" y="3686082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A03E4EC-2A36-0D5D-945A-42E9AFE04B28}"/>
              </a:ext>
            </a:extLst>
          </p:cNvPr>
          <p:cNvSpPr txBox="1"/>
          <p:nvPr/>
        </p:nvSpPr>
        <p:spPr>
          <a:xfrm>
            <a:off x="4298675" y="193552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cxnSp>
        <p:nvCxnSpPr>
          <p:cNvPr id="61" name="Curved Connector 60">
            <a:extLst>
              <a:ext uri="{FF2B5EF4-FFF2-40B4-BE49-F238E27FC236}">
                <a16:creationId xmlns:a16="http://schemas.microsoft.com/office/drawing/2014/main" id="{20F9DC28-22CE-3E9B-FC79-B093537175A8}"/>
              </a:ext>
            </a:extLst>
          </p:cNvPr>
          <p:cNvCxnSpPr>
            <a:cxnSpLocks/>
            <a:stCxn id="15" idx="2"/>
            <a:endCxn id="67" idx="0"/>
          </p:cNvCxnSpPr>
          <p:nvPr/>
        </p:nvCxnSpPr>
        <p:spPr>
          <a:xfrm rot="16200000" flipH="1">
            <a:off x="3012148" y="3470428"/>
            <a:ext cx="1331093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447A8DE0-D020-82E9-5700-51B26E9A8965}"/>
              </a:ext>
            </a:extLst>
          </p:cNvPr>
          <p:cNvCxnSpPr>
            <a:cxnSpLocks/>
            <a:stCxn id="15" idx="2"/>
            <a:endCxn id="68" idx="0"/>
          </p:cNvCxnSpPr>
          <p:nvPr/>
        </p:nvCxnSpPr>
        <p:spPr>
          <a:xfrm rot="5400000">
            <a:off x="1619766" y="3470428"/>
            <a:ext cx="1331093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83C7D48-D87C-2AEF-E781-212FDB616FE3}"/>
              </a:ext>
            </a:extLst>
          </p:cNvPr>
          <p:cNvSpPr txBox="1"/>
          <p:nvPr/>
        </p:nvSpPr>
        <p:spPr>
          <a:xfrm>
            <a:off x="3606044" y="379728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244A6E-251D-4BAE-7796-4A0FCD22B0F5}"/>
              </a:ext>
            </a:extLst>
          </p:cNvPr>
          <p:cNvSpPr txBox="1"/>
          <p:nvPr/>
        </p:nvSpPr>
        <p:spPr>
          <a:xfrm>
            <a:off x="1932730" y="3797287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5CD0B71-DF9C-7BB7-55F0-3D092EFE441C}"/>
              </a:ext>
            </a:extLst>
          </p:cNvPr>
          <p:cNvSpPr/>
          <p:nvPr/>
        </p:nvSpPr>
        <p:spPr>
          <a:xfrm>
            <a:off x="342025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222222"/>
                </a:solidFill>
              </a:rPr>
              <a:t>Bar Graph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5EFB42C3-DE59-585A-140E-437D3614AF06}"/>
              </a:ext>
            </a:extLst>
          </p:cNvPr>
          <p:cNvSpPr/>
          <p:nvPr/>
        </p:nvSpPr>
        <p:spPr>
          <a:xfrm>
            <a:off x="63548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222222"/>
                </a:solidFill>
              </a:rPr>
              <a:t>Boxplot / </a:t>
            </a:r>
          </a:p>
          <a:p>
            <a:pPr algn="ctr"/>
            <a:r>
              <a:rPr lang="en-US" sz="2000" b="1" dirty="0">
                <a:solidFill>
                  <a:srgbClr val="222222"/>
                </a:solidFill>
              </a:rPr>
              <a:t>Violin Plot</a:t>
            </a:r>
          </a:p>
        </p:txBody>
      </p:sp>
    </p:spTree>
    <p:extLst>
      <p:ext uri="{BB962C8B-B14F-4D97-AF65-F5344CB8AC3E}">
        <p14:creationId xmlns:p14="http://schemas.microsoft.com/office/powerpoint/2010/main" val="379787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4934B-FED8-EBED-9F8C-44A848A21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A35BB43-EE50-AA5E-3331-BE5DA6BEDC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323063" cy="373232"/>
          </a:xfrm>
          <a:prstGeom prst="rect">
            <a:avLst/>
          </a:prstGeom>
          <a:solidFill>
            <a:srgbClr val="725EEC"/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viz-roadmap-05.png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588B4E3-465E-95B6-D49F-53290F867C98}"/>
              </a:ext>
            </a:extLst>
          </p:cNvPr>
          <p:cNvSpPr/>
          <p:nvPr/>
        </p:nvSpPr>
        <p:spPr>
          <a:xfrm>
            <a:off x="3781573" y="1336962"/>
            <a:ext cx="4441816" cy="467591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my </a:t>
            </a:r>
            <a:r>
              <a:rPr lang="en-US" b="1" u="sng" dirty="0">
                <a:solidFill>
                  <a:srgbClr val="222222"/>
                </a:solidFill>
              </a:rPr>
              <a:t>explanatory</a:t>
            </a:r>
            <a:r>
              <a:rPr lang="en-US" b="1" dirty="0">
                <a:solidFill>
                  <a:srgbClr val="222222"/>
                </a:solidFill>
              </a:rPr>
              <a:t> variable categorical?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AF0D8E8-5D66-156A-1630-737EAC5387AF}"/>
              </a:ext>
            </a:extLst>
          </p:cNvPr>
          <p:cNvSpPr/>
          <p:nvPr/>
        </p:nvSpPr>
        <p:spPr>
          <a:xfrm>
            <a:off x="1589120" y="2744636"/>
            <a:ext cx="2784765" cy="756437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Is the </a:t>
            </a:r>
            <a:r>
              <a:rPr lang="en-US" b="1" u="sng" dirty="0">
                <a:solidFill>
                  <a:srgbClr val="222222"/>
                </a:solidFill>
              </a:rPr>
              <a:t>range</a:t>
            </a:r>
            <a:r>
              <a:rPr lang="en-US" b="1" dirty="0">
                <a:solidFill>
                  <a:srgbClr val="222222"/>
                </a:solidFill>
              </a:rPr>
              <a:t> of the data what’s important?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5586C52-495A-A1DA-EC2F-F20F8DFFEEB5}"/>
              </a:ext>
            </a:extLst>
          </p:cNvPr>
          <p:cNvSpPr/>
          <p:nvPr/>
        </p:nvSpPr>
        <p:spPr>
          <a:xfrm>
            <a:off x="997923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222222"/>
                </a:solidFill>
              </a:rPr>
              <a:t>Scatterplot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879AD0E-5CFB-C22C-7C51-8165665A9C0B}"/>
              </a:ext>
            </a:extLst>
          </p:cNvPr>
          <p:cNvSpPr/>
          <p:nvPr/>
        </p:nvSpPr>
        <p:spPr>
          <a:xfrm>
            <a:off x="719447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222222"/>
                </a:solidFill>
              </a:rPr>
              <a:t>Scatterplot + ”Best Fit” Line</a:t>
            </a:r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1C870C5F-30F1-75A4-4E17-6DAE6BB75B52}"/>
              </a:ext>
            </a:extLst>
          </p:cNvPr>
          <p:cNvCxnSpPr>
            <a:cxnSpLocks/>
            <a:stCxn id="14" idx="2"/>
            <a:endCxn id="24" idx="0"/>
          </p:cNvCxnSpPr>
          <p:nvPr/>
        </p:nvCxnSpPr>
        <p:spPr>
          <a:xfrm rot="16200000" flipH="1">
            <a:off x="7236983" y="570050"/>
            <a:ext cx="1069003" cy="3538007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D17583F4-4FCC-E56B-C659-15C63D113A68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4021951" y="764105"/>
            <a:ext cx="940083" cy="3020978"/>
          </a:xfrm>
          <a:prstGeom prst="curvedConnector3">
            <a:avLst/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6DA6F40-5932-921B-C5F2-15B94149766C}"/>
              </a:ext>
            </a:extLst>
          </p:cNvPr>
          <p:cNvSpPr/>
          <p:nvPr/>
        </p:nvSpPr>
        <p:spPr>
          <a:xfrm>
            <a:off x="8148105" y="2873556"/>
            <a:ext cx="2784765" cy="498596"/>
          </a:xfrm>
          <a:prstGeom prst="roundRect">
            <a:avLst/>
          </a:prstGeom>
          <a:solidFill>
            <a:srgbClr val="FF6018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22222"/>
                </a:solidFill>
              </a:rPr>
              <a:t>Do I care about the </a:t>
            </a:r>
            <a:r>
              <a:rPr lang="en-US" b="1" u="sng" dirty="0">
                <a:solidFill>
                  <a:srgbClr val="222222"/>
                </a:solidFill>
              </a:rPr>
              <a:t>trend</a:t>
            </a:r>
            <a:r>
              <a:rPr lang="en-US" b="1" dirty="0">
                <a:solidFill>
                  <a:srgbClr val="222222"/>
                </a:solidFill>
              </a:rPr>
              <a:t>?</a:t>
            </a:r>
          </a:p>
        </p:txBody>
      </p: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ED830C8A-6F9C-4CEF-1527-7D4F266F1D53}"/>
              </a:ext>
            </a:extLst>
          </p:cNvPr>
          <p:cNvCxnSpPr>
            <a:cxnSpLocks/>
            <a:stCxn id="24" idx="2"/>
            <a:endCxn id="16" idx="0"/>
          </p:cNvCxnSpPr>
          <p:nvPr/>
        </p:nvCxnSpPr>
        <p:spPr>
          <a:xfrm rot="16200000" flipH="1">
            <a:off x="9506672" y="3405968"/>
            <a:ext cx="1460014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EA8BACC-0D94-C47C-A093-1AB9C67A7982}"/>
              </a:ext>
            </a:extLst>
          </p:cNvPr>
          <p:cNvCxnSpPr>
            <a:cxnSpLocks/>
            <a:stCxn id="24" idx="2"/>
            <a:endCxn id="17" idx="0"/>
          </p:cNvCxnSpPr>
          <p:nvPr/>
        </p:nvCxnSpPr>
        <p:spPr>
          <a:xfrm rot="5400000">
            <a:off x="8114290" y="3405968"/>
            <a:ext cx="1460014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3760694-8F3D-D9E7-161F-515E4D8F2467}"/>
              </a:ext>
            </a:extLst>
          </p:cNvPr>
          <p:cNvSpPr txBox="1"/>
          <p:nvPr/>
        </p:nvSpPr>
        <p:spPr>
          <a:xfrm>
            <a:off x="7459681" y="1980880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D2731C-1934-B197-B2D2-11625DDBBCA2}"/>
              </a:ext>
            </a:extLst>
          </p:cNvPr>
          <p:cNvSpPr txBox="1"/>
          <p:nvPr/>
        </p:nvSpPr>
        <p:spPr>
          <a:xfrm>
            <a:off x="10236679" y="3686082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566249-CCDE-3A43-A7AC-F01E301F8118}"/>
              </a:ext>
            </a:extLst>
          </p:cNvPr>
          <p:cNvSpPr txBox="1"/>
          <p:nvPr/>
        </p:nvSpPr>
        <p:spPr>
          <a:xfrm>
            <a:off x="8452575" y="3686082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DC6271-0E15-4B26-B7E9-C15D812ABFC7}"/>
              </a:ext>
            </a:extLst>
          </p:cNvPr>
          <p:cNvSpPr txBox="1"/>
          <p:nvPr/>
        </p:nvSpPr>
        <p:spPr>
          <a:xfrm>
            <a:off x="4298675" y="193552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cxnSp>
        <p:nvCxnSpPr>
          <p:cNvPr id="61" name="Curved Connector 60">
            <a:extLst>
              <a:ext uri="{FF2B5EF4-FFF2-40B4-BE49-F238E27FC236}">
                <a16:creationId xmlns:a16="http://schemas.microsoft.com/office/drawing/2014/main" id="{1B63C3E8-AC42-A345-6BC4-6F43B9CEBD53}"/>
              </a:ext>
            </a:extLst>
          </p:cNvPr>
          <p:cNvCxnSpPr>
            <a:cxnSpLocks/>
            <a:stCxn id="15" idx="2"/>
            <a:endCxn id="67" idx="0"/>
          </p:cNvCxnSpPr>
          <p:nvPr/>
        </p:nvCxnSpPr>
        <p:spPr>
          <a:xfrm rot="16200000" flipH="1">
            <a:off x="3012148" y="3470428"/>
            <a:ext cx="1331093" cy="1392382"/>
          </a:xfrm>
          <a:prstGeom prst="curvedConnector3">
            <a:avLst>
              <a:gd name="adj1" fmla="val 50000"/>
            </a:avLst>
          </a:prstGeom>
          <a:ln w="38100">
            <a:solidFill>
              <a:srgbClr val="FFB02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urved Connector 61">
            <a:extLst>
              <a:ext uri="{FF2B5EF4-FFF2-40B4-BE49-F238E27FC236}">
                <a16:creationId xmlns:a16="http://schemas.microsoft.com/office/drawing/2014/main" id="{B9934A2F-7B73-5F39-DD0C-781D65BB8962}"/>
              </a:ext>
            </a:extLst>
          </p:cNvPr>
          <p:cNvCxnSpPr>
            <a:cxnSpLocks/>
            <a:stCxn id="15" idx="2"/>
            <a:endCxn id="68" idx="0"/>
          </p:cNvCxnSpPr>
          <p:nvPr/>
        </p:nvCxnSpPr>
        <p:spPr>
          <a:xfrm rot="5400000">
            <a:off x="1619766" y="3470428"/>
            <a:ext cx="1331093" cy="1392383"/>
          </a:xfrm>
          <a:prstGeom prst="curvedConnector3">
            <a:avLst>
              <a:gd name="adj1" fmla="val 50000"/>
            </a:avLst>
          </a:prstGeom>
          <a:ln w="38100">
            <a:solidFill>
              <a:srgbClr val="DF22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17A9210-31D6-A941-1AE7-A44E0BF11E78}"/>
              </a:ext>
            </a:extLst>
          </p:cNvPr>
          <p:cNvSpPr txBox="1"/>
          <p:nvPr/>
        </p:nvSpPr>
        <p:spPr>
          <a:xfrm>
            <a:off x="3606044" y="3797287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B02F"/>
                </a:solidFill>
              </a:rPr>
              <a:t>No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79DAB0-BF99-E596-2804-CF93DE883D74}"/>
              </a:ext>
            </a:extLst>
          </p:cNvPr>
          <p:cNvSpPr txBox="1"/>
          <p:nvPr/>
        </p:nvSpPr>
        <p:spPr>
          <a:xfrm>
            <a:off x="1932730" y="3797287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DF227C"/>
                </a:solidFill>
              </a:rPr>
              <a:t>Yes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639FE31-35AB-D0C9-5D87-98BEA40E24AE}"/>
              </a:ext>
            </a:extLst>
          </p:cNvPr>
          <p:cNvSpPr/>
          <p:nvPr/>
        </p:nvSpPr>
        <p:spPr>
          <a:xfrm>
            <a:off x="3420253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222222"/>
                </a:solidFill>
              </a:rPr>
              <a:t>Bar Graph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84252A6E-47FC-DF88-E818-AB5FAEC1F2D3}"/>
              </a:ext>
            </a:extLst>
          </p:cNvPr>
          <p:cNvSpPr/>
          <p:nvPr/>
        </p:nvSpPr>
        <p:spPr>
          <a:xfrm>
            <a:off x="635488" y="4832166"/>
            <a:ext cx="1907264" cy="576574"/>
          </a:xfrm>
          <a:prstGeom prst="roundRect">
            <a:avLst/>
          </a:prstGeom>
          <a:solidFill>
            <a:srgbClr val="725EEC"/>
          </a:solidFill>
          <a:ln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222222"/>
                </a:solidFill>
              </a:rPr>
              <a:t>Boxplot / </a:t>
            </a:r>
          </a:p>
          <a:p>
            <a:pPr algn="ctr"/>
            <a:r>
              <a:rPr lang="en-US" sz="2000" b="1" dirty="0">
                <a:solidFill>
                  <a:srgbClr val="222222"/>
                </a:solidFill>
              </a:rPr>
              <a:t>Violin Plot</a:t>
            </a:r>
          </a:p>
        </p:txBody>
      </p:sp>
    </p:spTree>
    <p:extLst>
      <p:ext uri="{BB962C8B-B14F-4D97-AF65-F5344CB8AC3E}">
        <p14:creationId xmlns:p14="http://schemas.microsoft.com/office/powerpoint/2010/main" val="2562658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90909"/>
      </a:dk1>
      <a:lt1>
        <a:srgbClr val="EBEEE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647</TotalTime>
  <Words>256</Words>
  <Application>Microsoft Macintosh PowerPoint</Application>
  <PresentationFormat>Widescreen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Nick Lyon</dc:creator>
  <cp:lastModifiedBy>Nick Lyon</cp:lastModifiedBy>
  <cp:revision>115</cp:revision>
  <dcterms:created xsi:type="dcterms:W3CDTF">2023-03-22T20:36:47Z</dcterms:created>
  <dcterms:modified xsi:type="dcterms:W3CDTF">2026-04-05T21:11:37Z</dcterms:modified>
</cp:coreProperties>
</file>